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21040" y="-548640"/>
            <a:ext cx="4572000" cy="4572000"/>
          </a:xfrm>
          <a:prstGeom prst="ellipse">
            <a:avLst/>
          </a:prstGeom>
          <a:solidFill>
            <a:srgbClr val="1B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20040"/>
            <a:ext cx="2926080" cy="2926080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914400"/>
            <a:ext cx="1737360" cy="1737360"/>
          </a:xfrm>
          <a:prstGeom prst="ellipse">
            <a:avLst/>
          </a:prstGeom>
          <a:solidFill>
            <a:srgbClr val="11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321040" y="3977639"/>
            <a:ext cx="914400" cy="91440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0" y="4709160"/>
            <a:ext cx="502920" cy="502920"/>
          </a:xfrm>
          <a:prstGeom prst="ellipse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6858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6C9B2"/>
                </a:solidFill>
                <a:latin typeface="Aptos"/>
              </a:rPr>
              <a:t>BUSINESS ANALYTICS  /  CUSTOMER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44752"/>
            <a:ext cx="758952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Customer Shopping</a:t>
            </a:r>
          </a:p>
          <a:p>
            <a:pPr algn="l">
              <a:spcAft>
                <a:spcPts val="50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Behavior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154680"/>
            <a:ext cx="71323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D2DCEB"/>
                </a:solidFill>
                <a:latin typeface="Aptos"/>
              </a:rPr>
              <a:t>A detailed walkthrough of data preparation, SQL analysis, dashboarding, and business recommendations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4160520"/>
            <a:ext cx="914400" cy="6400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4462272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Python  |  PostgreSQL  |  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612648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A5B5CB"/>
                </a:solidFill>
                <a:latin typeface="Aptos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6C9B2"/>
                </a:solidFill>
                <a:latin typeface="Aptos"/>
              </a:rPr>
              <a:t>00 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11C32"/>
                </a:solidFill>
                <a:latin typeface="Aptos"/>
              </a:rPr>
              <a:t>From raw transactions to business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58B"/>
                </a:solidFill>
                <a:latin typeface="Aptos"/>
              </a:rPr>
              <a:t>The presentation follows the same workflow as the project report.</a:t>
            </a:r>
          </a:p>
        </p:txBody>
      </p:sp>
      <p:sp>
        <p:nvSpPr>
          <p:cNvPr id="5" name="Oval 4"/>
          <p:cNvSpPr/>
          <p:nvPr/>
        </p:nvSpPr>
        <p:spPr>
          <a:xfrm>
            <a:off x="11018520" y="347472"/>
            <a:ext cx="164592" cy="164592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4552" y="347472"/>
            <a:ext cx="164592" cy="164592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30584" y="347472"/>
            <a:ext cx="164592" cy="164592"/>
          </a:xfrm>
          <a:prstGeom prst="ellipse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9384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6C9B2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892807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11C32"/>
                </a:solidFill>
                <a:latin typeface="Aptos"/>
              </a:rPr>
              <a:t>Project goal &amp;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920240"/>
            <a:ext cx="64922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58B"/>
                </a:solidFill>
                <a:latin typeface="Aptos"/>
              </a:rPr>
              <a:t>What is included and what the analysis aims to answer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06040"/>
            <a:ext cx="106984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52344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7E67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715768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11C32"/>
                </a:solidFill>
                <a:latin typeface="Aptos"/>
              </a:rPr>
              <a:t>Python preparation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43200"/>
            <a:ext cx="64922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58B"/>
                </a:solidFill>
                <a:latin typeface="Aptos"/>
              </a:rPr>
              <a:t>Cleaning, feature engineering, and database loading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29000"/>
            <a:ext cx="106984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75304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C35B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538728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11C32"/>
                </a:solidFill>
                <a:latin typeface="Aptos"/>
              </a:rPr>
              <a:t>PostgreSQL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566160"/>
            <a:ext cx="64922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58B"/>
                </a:solidFill>
                <a:latin typeface="Aptos"/>
              </a:rPr>
              <a:t>Ten business questions organized by theme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51960"/>
            <a:ext cx="106984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398264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7089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361688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11C32"/>
                </a:solidFill>
                <a:latin typeface="Aptos"/>
              </a:rPr>
              <a:t>Power BI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389120"/>
            <a:ext cx="64922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58B"/>
                </a:solidFill>
                <a:latin typeface="Aptos"/>
              </a:rPr>
              <a:t>Visual reporting layer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074920"/>
            <a:ext cx="106984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221224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6C9B2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184648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11C32"/>
                </a:solidFill>
                <a:latin typeface="Aptos"/>
              </a:rPr>
              <a:t>Business recommendations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212080"/>
            <a:ext cx="64922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58B"/>
                </a:solidFill>
                <a:latin typeface="Aptos"/>
              </a:rPr>
              <a:t>How analysis can inform next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56248"/>
            <a:ext cx="54864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8E99AA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519672"/>
            <a:ext cx="3200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8E99A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6C9B2"/>
                </a:solidFill>
                <a:latin typeface="Aptos"/>
              </a:rPr>
              <a:t>01 /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11C32"/>
                </a:solidFill>
                <a:latin typeface="Aptos"/>
              </a:rPr>
              <a:t>Why analyze customer shopping behavior?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58B"/>
                </a:solidFill>
                <a:latin typeface="Aptos"/>
              </a:rPr>
              <a:t>The report uses purchase transactions to explore patterns that can support strategic decisions.</a:t>
            </a:r>
          </a:p>
        </p:txBody>
      </p:sp>
      <p:sp>
        <p:nvSpPr>
          <p:cNvPr id="5" name="Oval 4"/>
          <p:cNvSpPr/>
          <p:nvPr/>
        </p:nvSpPr>
        <p:spPr>
          <a:xfrm>
            <a:off x="11018520" y="347472"/>
            <a:ext cx="164592" cy="164592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4552" y="347472"/>
            <a:ext cx="164592" cy="164592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30584" y="347472"/>
            <a:ext cx="164592" cy="164592"/>
          </a:xfrm>
          <a:prstGeom prst="ellipse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828800"/>
            <a:ext cx="3456432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975104"/>
            <a:ext cx="54864" cy="1170432"/>
          </a:xfrm>
          <a:prstGeom prst="rect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11C32"/>
                </a:solidFill>
                <a:latin typeface="Aptos"/>
              </a:rPr>
              <a:t>SPENDING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86584"/>
            <a:ext cx="3090672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58B"/>
                </a:solidFill>
                <a:latin typeface="Aptos"/>
              </a:rPr>
              <a:t>Compare purchase amounts and revenue across customer groups.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456432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975104"/>
            <a:ext cx="54864" cy="1170432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9339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11C32"/>
                </a:solidFill>
                <a:latin typeface="Aptos"/>
              </a:rPr>
              <a:t>CUSTOMER SEGMENTS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86584"/>
            <a:ext cx="3090672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58B"/>
                </a:solidFill>
                <a:latin typeface="Aptos"/>
              </a:rPr>
              <a:t>Understand new, returning, and loyal customers using purchase history.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828800"/>
            <a:ext cx="3456432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975104"/>
            <a:ext cx="54864" cy="1170432"/>
          </a:xfrm>
          <a:prstGeom prst="rect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99339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11C32"/>
                </a:solidFill>
                <a:latin typeface="Aptos"/>
              </a:rPr>
              <a:t>PRODUCT PREFERENCES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86584"/>
            <a:ext cx="3090672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58B"/>
                </a:solidFill>
                <a:latin typeface="Aptos"/>
              </a:rPr>
              <a:t>Explore product ratings, category popularity, and discount behavior.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94760"/>
            <a:ext cx="10744200" cy="1417320"/>
          </a:xfrm>
          <a:prstGeom prst="roundRect">
            <a:avLst/>
          </a:prstGeom>
          <a:solidFill>
            <a:srgbClr val="11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050791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6C9B2"/>
                </a:solidFill>
                <a:latin typeface="Aptos"/>
              </a:rPr>
              <a:t>CORE OBJECTIVE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407408"/>
            <a:ext cx="99669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Turn transaction-level data into actionable evidence for customer targeting, loyalty programs, product positioning, and promotion decisions.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56248"/>
            <a:ext cx="54864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8E99AA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519672"/>
            <a:ext cx="3200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8E99A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6C9B2"/>
                </a:solidFill>
                <a:latin typeface="Aptos"/>
              </a:rPr>
              <a:t>02 /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11C32"/>
                </a:solidFill>
                <a:latin typeface="Aptos"/>
              </a:rPr>
              <a:t>Dataset profile &amp;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58B"/>
                </a:solidFill>
                <a:latin typeface="Aptos"/>
              </a:rPr>
              <a:t>The source report describes 3,900 purchase records across 18 columns.</a:t>
            </a:r>
          </a:p>
        </p:txBody>
      </p:sp>
      <p:sp>
        <p:nvSpPr>
          <p:cNvPr id="5" name="Oval 4"/>
          <p:cNvSpPr/>
          <p:nvPr/>
        </p:nvSpPr>
        <p:spPr>
          <a:xfrm>
            <a:off x="11018520" y="347472"/>
            <a:ext cx="164592" cy="164592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4552" y="347472"/>
            <a:ext cx="164592" cy="164592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30584" y="347472"/>
            <a:ext cx="164592" cy="164592"/>
          </a:xfrm>
          <a:prstGeom prst="ellipse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3017520" cy="868680"/>
          </a:xfrm>
          <a:prstGeom prst="roundRect">
            <a:avLst/>
          </a:prstGeom>
          <a:solidFill>
            <a:srgbClr val="E2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38528"/>
            <a:ext cx="1143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 i="0">
                <a:solidFill>
                  <a:srgbClr val="111C32"/>
                </a:solidFill>
                <a:latin typeface="Aptos"/>
              </a:rPr>
              <a:t>3,900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2011680"/>
            <a:ext cx="1554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Rows / purchases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971800"/>
            <a:ext cx="3017520" cy="868680"/>
          </a:xfrm>
          <a:prstGeom prst="round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81528"/>
            <a:ext cx="1143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 i="0">
                <a:solidFill>
                  <a:srgbClr val="111C32"/>
                </a:solidFill>
                <a:latin typeface="Aptos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3154680"/>
            <a:ext cx="1554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Columns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114800"/>
            <a:ext cx="3017520" cy="868680"/>
          </a:xfrm>
          <a:prstGeom prst="roundRect">
            <a:avLst/>
          </a:prstGeom>
          <a:solidFill>
            <a:srgbClr val="FFF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24528"/>
            <a:ext cx="1143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 i="0">
                <a:solidFill>
                  <a:srgbClr val="111C32"/>
                </a:solidFill>
                <a:latin typeface="Aptos"/>
              </a:rPr>
              <a:t>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3392" y="4297680"/>
            <a:ext cx="1554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Missing review ratings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1828800"/>
            <a:ext cx="3429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1975104"/>
            <a:ext cx="54864" cy="941832"/>
          </a:xfrm>
          <a:prstGeom prst="rect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1993392"/>
            <a:ext cx="30815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C32"/>
                </a:solidFill>
                <a:latin typeface="Aptos"/>
              </a:rPr>
              <a:t>CUSTOMER DEMOGRAPHICS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2386584"/>
            <a:ext cx="306324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58B"/>
                </a:solidFill>
                <a:latin typeface="Aptos"/>
              </a:rPr>
              <a:t>Age, gender, location, subscription 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1828800"/>
            <a:ext cx="3429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18120" y="1975104"/>
            <a:ext cx="54864" cy="941832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1993392"/>
            <a:ext cx="30815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C32"/>
                </a:solidFill>
                <a:latin typeface="Aptos"/>
              </a:rPr>
              <a:t>PURCHASE 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2386584"/>
            <a:ext cx="306324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58B"/>
                </a:solidFill>
                <a:latin typeface="Aptos"/>
              </a:rPr>
              <a:t>Item, category, amount, season, size, color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3429000"/>
            <a:ext cx="3429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60520" y="3575304"/>
            <a:ext cx="54864" cy="941832"/>
          </a:xfrm>
          <a:prstGeom prst="rect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8" y="3593592"/>
            <a:ext cx="30815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C32"/>
                </a:solidFill>
                <a:latin typeface="Aptos"/>
              </a:rPr>
              <a:t>SHOPPING BEHAVIOR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3986784"/>
            <a:ext cx="306324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Discount applied, promo use, previous purchases, purchase frequency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3429000"/>
            <a:ext cx="3429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18120" y="3575304"/>
            <a:ext cx="54864" cy="941832"/>
          </a:xfrm>
          <a:prstGeom prst="rect">
            <a:avLst/>
          </a:prstGeom>
          <a:solidFill>
            <a:srgbClr val="7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9288" y="3593592"/>
            <a:ext cx="30815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C32"/>
                </a:solidFill>
                <a:latin typeface="Aptos"/>
              </a:rPr>
              <a:t>EXPERIENCE &amp; DELIVERY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3986784"/>
            <a:ext cx="306324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58B"/>
                </a:solidFill>
                <a:latin typeface="Aptos"/>
              </a:rPr>
              <a:t>Review rating and shipping 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074920"/>
            <a:ext cx="69494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11C32"/>
                </a:solidFill>
                <a:latin typeface="Aptos"/>
              </a:rPr>
              <a:t>Data quality note: 37 values were missing in the Review Rating column; the report says these were imputed using each product category's median rating.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56248"/>
            <a:ext cx="54864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8E99AA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519672"/>
            <a:ext cx="3200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8E99A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6C9B2"/>
                </a:solidFill>
                <a:latin typeface="Aptos"/>
              </a:rPr>
              <a:t>03 / PYTHON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11C32"/>
                </a:solidFill>
                <a:latin typeface="Aptos"/>
              </a:rPr>
              <a:t>Step 1 — inspect and clean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58B"/>
                </a:solidFill>
                <a:latin typeface="Aptos"/>
              </a:rPr>
              <a:t>The report lists a structured preparation workflow using pandas.</a:t>
            </a:r>
          </a:p>
        </p:txBody>
      </p:sp>
      <p:sp>
        <p:nvSpPr>
          <p:cNvPr id="5" name="Oval 4"/>
          <p:cNvSpPr/>
          <p:nvPr/>
        </p:nvSpPr>
        <p:spPr>
          <a:xfrm>
            <a:off x="11018520" y="347472"/>
            <a:ext cx="164592" cy="164592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4552" y="347472"/>
            <a:ext cx="164592" cy="164592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30584" y="347472"/>
            <a:ext cx="164592" cy="164592"/>
          </a:xfrm>
          <a:prstGeom prst="ellipse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507492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1993392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6C9B2"/>
                </a:solidFill>
                <a:latin typeface="Aptos"/>
              </a:rPr>
              <a:t>01 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304288"/>
            <a:ext cx="4480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C32"/>
                </a:solidFill>
                <a:latin typeface="Aptos"/>
              </a:rPr>
              <a:t>Import dataset using pandas.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670048"/>
            <a:ext cx="45262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58B"/>
                </a:solidFill>
                <a:latin typeface="Aptos"/>
              </a:rPr>
              <a:t>Read the transactional data into a DataFrame.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828800"/>
            <a:ext cx="507492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993392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F7E67"/>
                </a:solidFill>
                <a:latin typeface="Aptos"/>
              </a:rPr>
              <a:t>02  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304288"/>
            <a:ext cx="4480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C32"/>
                </a:solidFill>
                <a:latin typeface="Aptos"/>
              </a:rPr>
              <a:t>Use df.info() and .describe().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670048"/>
            <a:ext cx="45262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58B"/>
                </a:solidFill>
                <a:latin typeface="Aptos"/>
              </a:rPr>
              <a:t>Review structure and summary statistics.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520440"/>
            <a:ext cx="507492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7" y="3685032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FC35B"/>
                </a:solidFill>
                <a:latin typeface="Aptos"/>
              </a:rPr>
              <a:t>03  HANDLE NULLS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7" y="3995928"/>
            <a:ext cx="4480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C32"/>
                </a:solidFill>
                <a:latin typeface="Aptos"/>
              </a:rPr>
              <a:t>Check missing values.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7" y="4361688"/>
            <a:ext cx="45262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58B"/>
                </a:solidFill>
                <a:latin typeface="Aptos"/>
              </a:rPr>
              <a:t>Impute Review Rating using the median within each product category.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3520440"/>
            <a:ext cx="507492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685032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7089FF"/>
                </a:solidFill>
                <a:latin typeface="Aptos"/>
              </a:rPr>
              <a:t>04  STANDARDIZE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995928"/>
            <a:ext cx="4480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C32"/>
                </a:solidFill>
                <a:latin typeface="Aptos"/>
              </a:rPr>
              <a:t>Rename columns to snake_case.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361688"/>
            <a:ext cx="45262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58B"/>
                </a:solidFill>
                <a:latin typeface="Aptos"/>
              </a:rPr>
              <a:t>Make field names more consistent and readable.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5440680"/>
            <a:ext cx="10607040" cy="475488"/>
          </a:xfrm>
          <a:prstGeom prst="roundRect">
            <a:avLst/>
          </a:prstGeom>
          <a:solidFill>
            <a:srgbClr val="E2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559552"/>
            <a:ext cx="9966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11C32"/>
                </a:solidFill>
                <a:latin typeface="Aptos"/>
              </a:rPr>
              <a:t>Purpose: improve consistency and reduce data-quality issues before analysis.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56248"/>
            <a:ext cx="54864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8E99AA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519672"/>
            <a:ext cx="3200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8E99A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6C9B2"/>
                </a:solidFill>
                <a:latin typeface="Aptos"/>
              </a:rPr>
              <a:t>03 / PYTHON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11C32"/>
                </a:solidFill>
                <a:latin typeface="Aptos"/>
              </a:rPr>
              <a:t>Step 2 — engineer features and connect PostgreSQL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58B"/>
                </a:solidFill>
                <a:latin typeface="Aptos"/>
              </a:rPr>
              <a:t>The cleaned DataFrame was enriched and then loaded into the database for SQL analysis.</a:t>
            </a:r>
          </a:p>
        </p:txBody>
      </p:sp>
      <p:sp>
        <p:nvSpPr>
          <p:cNvPr id="5" name="Oval 4"/>
          <p:cNvSpPr/>
          <p:nvPr/>
        </p:nvSpPr>
        <p:spPr>
          <a:xfrm>
            <a:off x="11018520" y="347472"/>
            <a:ext cx="164592" cy="164592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4552" y="347472"/>
            <a:ext cx="164592" cy="164592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30584" y="347472"/>
            <a:ext cx="164592" cy="164592"/>
          </a:xfrm>
          <a:prstGeom prst="ellipse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2240280"/>
            <a:ext cx="24231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240280"/>
            <a:ext cx="2423160" cy="73152"/>
          </a:xfrm>
          <a:prstGeom prst="rect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48716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6C9B2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852928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C32"/>
                </a:solidFill>
                <a:latin typeface="Aptos"/>
              </a:rPr>
              <a:t>CLEAN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310128"/>
            <a:ext cx="20574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Consistent names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Missing ratings handled</a:t>
            </a:r>
          </a:p>
        </p:txBody>
      </p:sp>
      <p:sp>
        <p:nvSpPr>
          <p:cNvPr id="13" name="Chevron 12"/>
          <p:cNvSpPr/>
          <p:nvPr/>
        </p:nvSpPr>
        <p:spPr>
          <a:xfrm>
            <a:off x="3108960" y="2880360"/>
            <a:ext cx="320040" cy="384048"/>
          </a:xfrm>
          <a:prstGeom prst="chevron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29584" y="2240280"/>
            <a:ext cx="24231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9584" y="2240280"/>
            <a:ext cx="2423160" cy="73152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2464" y="248716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F7E67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4" y="2852928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C32"/>
                </a:solidFill>
                <a:latin typeface="Aptos"/>
              </a:rPr>
              <a:t>CREATE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2464" y="3310128"/>
            <a:ext cx="20574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age_group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purchase_frequency_days</a:t>
            </a:r>
          </a:p>
        </p:txBody>
      </p:sp>
      <p:sp>
        <p:nvSpPr>
          <p:cNvPr id="19" name="Chevron 18"/>
          <p:cNvSpPr/>
          <p:nvPr/>
        </p:nvSpPr>
        <p:spPr>
          <a:xfrm>
            <a:off x="6016752" y="2880360"/>
            <a:ext cx="320040" cy="384048"/>
          </a:xfrm>
          <a:prstGeom prst="chevron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37376" y="2240280"/>
            <a:ext cx="24231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37376" y="2240280"/>
            <a:ext cx="2423160" cy="73152"/>
          </a:xfrm>
          <a:prstGeom prst="rect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248716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FC35B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2852928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C32"/>
                </a:solidFill>
                <a:latin typeface="Aptos"/>
              </a:rPr>
              <a:t>CHECK REDUNDANCY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3310128"/>
            <a:ext cx="20574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Compare discount_applied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with promo_code_used</a:t>
            </a:r>
          </a:p>
        </p:txBody>
      </p:sp>
      <p:sp>
        <p:nvSpPr>
          <p:cNvPr id="25" name="Chevron 24"/>
          <p:cNvSpPr/>
          <p:nvPr/>
        </p:nvSpPr>
        <p:spPr>
          <a:xfrm>
            <a:off x="8924544" y="2880360"/>
            <a:ext cx="320040" cy="384048"/>
          </a:xfrm>
          <a:prstGeom prst="chevron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45168" y="2240280"/>
            <a:ext cx="24231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45168" y="2240280"/>
            <a:ext cx="2423160" cy="73152"/>
          </a:xfrm>
          <a:prstGeom prst="rect">
            <a:avLst/>
          </a:prstGeom>
          <a:solidFill>
            <a:srgbClr val="7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28048" y="248716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7089FF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048" y="2852928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C32"/>
                </a:solidFill>
                <a:latin typeface="Aptos"/>
              </a:rPr>
              <a:t>LOAD 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8" y="3310128"/>
            <a:ext cx="20574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Connect Python to PostgreSQL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Drop redundant promo_code_used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709160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6C9B2"/>
                </a:solidFill>
                <a:latin typeface="Aptos"/>
              </a:rPr>
              <a:t>Feature definitions from the report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" y="5148072"/>
            <a:ext cx="100584" cy="100584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" y="5074920"/>
            <a:ext cx="10131552" cy="365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age_group: customer ages grouped into bins.</a:t>
            </a:r>
          </a:p>
        </p:txBody>
      </p:sp>
      <p:sp>
        <p:nvSpPr>
          <p:cNvPr id="34" name="Oval 33"/>
          <p:cNvSpPr/>
          <p:nvPr/>
        </p:nvSpPr>
        <p:spPr>
          <a:xfrm>
            <a:off x="777240" y="5532120"/>
            <a:ext cx="100584" cy="100584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" y="5458968"/>
            <a:ext cx="10131552" cy="365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purchase_frequency_days: a feature created from purchase data.</a:t>
            </a:r>
          </a:p>
        </p:txBody>
      </p:sp>
      <p:sp>
        <p:nvSpPr>
          <p:cNvPr id="36" name="Oval 35"/>
          <p:cNvSpPr/>
          <p:nvPr/>
        </p:nvSpPr>
        <p:spPr>
          <a:xfrm>
            <a:off x="777240" y="5916168"/>
            <a:ext cx="100584" cy="100584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5843016"/>
            <a:ext cx="10131552" cy="365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promo_code_used was dropped after checking redundancy with discount_applied.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56248"/>
            <a:ext cx="54864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8E99AA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519672"/>
            <a:ext cx="3200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8E99A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6C9B2"/>
                </a:solidFill>
                <a:latin typeface="Aptos"/>
              </a:rPr>
              <a:t>04 / POSTGRESQL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11C32"/>
                </a:solidFill>
                <a:latin typeface="Aptos"/>
              </a:rPr>
              <a:t>Ten SQL questions organized into business themes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58B"/>
                </a:solidFill>
                <a:latin typeface="Aptos"/>
              </a:rPr>
              <a:t>The report documents the questions explored; it does not include the actual numerical result tables.</a:t>
            </a:r>
          </a:p>
        </p:txBody>
      </p:sp>
      <p:sp>
        <p:nvSpPr>
          <p:cNvPr id="5" name="Oval 4"/>
          <p:cNvSpPr/>
          <p:nvPr/>
        </p:nvSpPr>
        <p:spPr>
          <a:xfrm>
            <a:off x="11018520" y="347472"/>
            <a:ext cx="164592" cy="164592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4552" y="347472"/>
            <a:ext cx="164592" cy="164592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30584" y="347472"/>
            <a:ext cx="164592" cy="164592"/>
          </a:xfrm>
          <a:prstGeom prst="ellipse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74720" cy="3977639"/>
          </a:xfrm>
          <a:prstGeom prst="roundRect">
            <a:avLst/>
          </a:prstGeom>
          <a:solidFill>
            <a:srgbClr val="E2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84831"/>
            <a:ext cx="3017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11C32"/>
                </a:solidFill>
                <a:latin typeface="Aptos"/>
              </a:rPr>
              <a:t>REVENUE &amp; CUSTOMER 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651760"/>
            <a:ext cx="566928" cy="54864"/>
          </a:xfrm>
          <a:prstGeom prst="rect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1832" y="2980944"/>
            <a:ext cx="91440" cy="91440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2926080"/>
            <a:ext cx="27432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Revenue by gender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3639312"/>
            <a:ext cx="91440" cy="91440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3584448"/>
            <a:ext cx="27432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Discount users spending above average</a:t>
            </a:r>
          </a:p>
        </p:txBody>
      </p:sp>
      <p:sp>
        <p:nvSpPr>
          <p:cNvPr id="15" name="Oval 14"/>
          <p:cNvSpPr/>
          <p:nvPr/>
        </p:nvSpPr>
        <p:spPr>
          <a:xfrm>
            <a:off x="941832" y="4297680"/>
            <a:ext cx="91440" cy="91440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" y="4242816"/>
            <a:ext cx="27432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Revenue by age group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07992" y="1828800"/>
            <a:ext cx="3474720" cy="3977639"/>
          </a:xfrm>
          <a:prstGeom prst="round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2084831"/>
            <a:ext cx="3017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11C32"/>
                </a:solidFill>
                <a:latin typeface="Aptos"/>
              </a:rPr>
              <a:t>PRODUCT &amp; DELIVERY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36592" y="2651760"/>
            <a:ext cx="56692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64024" y="2980944"/>
            <a:ext cx="91440" cy="914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2926080"/>
            <a:ext cx="27432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Top 5 products by average rating</a:t>
            </a:r>
          </a:p>
        </p:txBody>
      </p:sp>
      <p:sp>
        <p:nvSpPr>
          <p:cNvPr id="22" name="Oval 21"/>
          <p:cNvSpPr/>
          <p:nvPr/>
        </p:nvSpPr>
        <p:spPr>
          <a:xfrm>
            <a:off x="4764024" y="3639312"/>
            <a:ext cx="91440" cy="914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46904" y="3584448"/>
            <a:ext cx="27432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Standard vs. Express average purchase amount</a:t>
            </a:r>
          </a:p>
        </p:txBody>
      </p:sp>
      <p:sp>
        <p:nvSpPr>
          <p:cNvPr id="24" name="Oval 23"/>
          <p:cNvSpPr/>
          <p:nvPr/>
        </p:nvSpPr>
        <p:spPr>
          <a:xfrm>
            <a:off x="4764024" y="4297680"/>
            <a:ext cx="91440" cy="914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46904" y="4242816"/>
            <a:ext cx="27432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Top 3 products in each category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0183" y="1828800"/>
            <a:ext cx="3474720" cy="3977639"/>
          </a:xfrm>
          <a:prstGeom prst="roundRect">
            <a:avLst/>
          </a:prstGeom>
          <a:solidFill>
            <a:srgbClr val="FFF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58784" y="2084831"/>
            <a:ext cx="3017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11C32"/>
                </a:solidFill>
                <a:latin typeface="Aptos"/>
              </a:rPr>
              <a:t>LOYALTY &amp; PROMOTIONS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58784" y="2651760"/>
            <a:ext cx="566928" cy="54864"/>
          </a:xfrm>
          <a:prstGeom prst="rect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86215" y="2980944"/>
            <a:ext cx="91440" cy="91440"/>
          </a:xfrm>
          <a:prstGeom prst="ellipse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69096" y="2926080"/>
            <a:ext cx="27432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Subscribers vs. non-subscribers</a:t>
            </a:r>
          </a:p>
        </p:txBody>
      </p:sp>
      <p:sp>
        <p:nvSpPr>
          <p:cNvPr id="31" name="Oval 30"/>
          <p:cNvSpPr/>
          <p:nvPr/>
        </p:nvSpPr>
        <p:spPr>
          <a:xfrm>
            <a:off x="8586215" y="3639312"/>
            <a:ext cx="91440" cy="91440"/>
          </a:xfrm>
          <a:prstGeom prst="ellipse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69096" y="3584448"/>
            <a:ext cx="27432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Products with highest share of discounted purchases</a:t>
            </a:r>
          </a:p>
        </p:txBody>
      </p:sp>
      <p:sp>
        <p:nvSpPr>
          <p:cNvPr id="33" name="Oval 32"/>
          <p:cNvSpPr/>
          <p:nvPr/>
        </p:nvSpPr>
        <p:spPr>
          <a:xfrm>
            <a:off x="8586215" y="4297680"/>
            <a:ext cx="91440" cy="91440"/>
          </a:xfrm>
          <a:prstGeom prst="ellipse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69096" y="4242816"/>
            <a:ext cx="27432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New / Returning / Loyal customer segments</a:t>
            </a:r>
          </a:p>
        </p:txBody>
      </p:sp>
      <p:sp>
        <p:nvSpPr>
          <p:cNvPr id="35" name="Oval 34"/>
          <p:cNvSpPr/>
          <p:nvPr/>
        </p:nvSpPr>
        <p:spPr>
          <a:xfrm>
            <a:off x="8586215" y="4956048"/>
            <a:ext cx="91440" cy="91440"/>
          </a:xfrm>
          <a:prstGeom prst="ellipse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69096" y="4901184"/>
            <a:ext cx="27432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Repeat buyers (&gt;5 purchases) and subscriptions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556248"/>
            <a:ext cx="54864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8E99AA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519672"/>
            <a:ext cx="3200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8E99A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6C9B2"/>
                </a:solidFill>
                <a:latin typeface="Aptos"/>
              </a:rPr>
              <a:t>04 / POSTGRESQL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11C32"/>
                </a:solidFill>
                <a:latin typeface="Aptos"/>
              </a:rPr>
              <a:t>Revenue, discounts, ratings &amp; shipping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58B"/>
                </a:solidFill>
                <a:latin typeface="Aptos"/>
              </a:rPr>
              <a:t>These questions compare customer value and product experience using purchase and review fields.</a:t>
            </a:r>
          </a:p>
        </p:txBody>
      </p:sp>
      <p:sp>
        <p:nvSpPr>
          <p:cNvPr id="5" name="Oval 4"/>
          <p:cNvSpPr/>
          <p:nvPr/>
        </p:nvSpPr>
        <p:spPr>
          <a:xfrm>
            <a:off x="11018520" y="347472"/>
            <a:ext cx="164592" cy="164592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4552" y="347472"/>
            <a:ext cx="164592" cy="164592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30584" y="347472"/>
            <a:ext cx="164592" cy="164592"/>
          </a:xfrm>
          <a:prstGeom prst="ellipse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783080"/>
            <a:ext cx="5074920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929384"/>
            <a:ext cx="54864" cy="1335024"/>
          </a:xfrm>
          <a:prstGeom prst="rect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947672"/>
            <a:ext cx="47274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C32"/>
                </a:solidFill>
                <a:latin typeface="Aptos"/>
              </a:rPr>
              <a:t>01  REVENUE BY GENDER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40864"/>
            <a:ext cx="4709159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Compare total revenue generated by male and female customers.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Business use: understand revenue contribution by gender.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83080"/>
            <a:ext cx="5074920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929384"/>
            <a:ext cx="54864" cy="133502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947672"/>
            <a:ext cx="47274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C32"/>
                </a:solidFill>
                <a:latin typeface="Aptos"/>
              </a:rPr>
              <a:t>02  HIGH-SPENDING DISCOUNT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340864"/>
            <a:ext cx="4709159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Identify customers who used discounts but spent above the average purchase amount.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Business use: examine whether promotions are associated with larger baskets.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749039"/>
            <a:ext cx="5074920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3895344"/>
            <a:ext cx="54864" cy="1335024"/>
          </a:xfrm>
          <a:prstGeom prst="rect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913631"/>
            <a:ext cx="47274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C32"/>
                </a:solidFill>
                <a:latin typeface="Aptos"/>
              </a:rPr>
              <a:t>03  TOP 5 PRODUCTS BY RATING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306824"/>
            <a:ext cx="4709159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Find products with the highest average review ratings.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Business use: inform product positioning and campaign selection.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749039"/>
            <a:ext cx="5074920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3895344"/>
            <a:ext cx="54864" cy="1335024"/>
          </a:xfrm>
          <a:prstGeom prst="rect">
            <a:avLst/>
          </a:prstGeom>
          <a:solidFill>
            <a:srgbClr val="7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3913631"/>
            <a:ext cx="47274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C32"/>
                </a:solidFill>
                <a:latin typeface="Aptos"/>
              </a:rPr>
              <a:t>04  SHIPPING TYPE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4306824"/>
            <a:ext cx="4709159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Compare average purchase amount for Standard and Express shipping.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Business use: explore spending patterns by delivery preference.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87044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1">
                <a:solidFill>
                  <a:srgbClr val="68758B"/>
                </a:solidFill>
                <a:latin typeface="Aptos"/>
              </a:rPr>
              <a:t>No group is identified as higher-performing in the source report; these are the analysis questions, not reported outcomes.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56248"/>
            <a:ext cx="54864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8E99AA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519672"/>
            <a:ext cx="3200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8E99A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6C9B2"/>
                </a:solidFill>
                <a:latin typeface="Aptos"/>
              </a:rPr>
              <a:t>04 / POSTGRESQL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11C32"/>
                </a:solidFill>
                <a:latin typeface="Aptos"/>
              </a:rPr>
              <a:t>Subscriptions, discounts &amp; 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58B"/>
                </a:solidFill>
                <a:latin typeface="Aptos"/>
              </a:rPr>
              <a:t>These queries help frame retention and promotion decisions.</a:t>
            </a:r>
          </a:p>
        </p:txBody>
      </p:sp>
      <p:sp>
        <p:nvSpPr>
          <p:cNvPr id="5" name="Oval 4"/>
          <p:cNvSpPr/>
          <p:nvPr/>
        </p:nvSpPr>
        <p:spPr>
          <a:xfrm>
            <a:off x="11018520" y="347472"/>
            <a:ext cx="164592" cy="164592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4552" y="347472"/>
            <a:ext cx="164592" cy="164592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30584" y="347472"/>
            <a:ext cx="164592" cy="164592"/>
          </a:xfrm>
          <a:prstGeom prst="ellipse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2057400"/>
            <a:ext cx="32461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203704"/>
            <a:ext cx="54864" cy="1947672"/>
          </a:xfrm>
          <a:prstGeom prst="rect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221992"/>
            <a:ext cx="28986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C32"/>
                </a:solidFill>
                <a:latin typeface="Aptos"/>
              </a:rPr>
              <a:t>05  SUBSCRIBERS VS. NON-SUBSCRIBERS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15184"/>
            <a:ext cx="2880360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58B"/>
                </a:solidFill>
                <a:latin typeface="Aptos"/>
              </a:rPr>
              <a:t>Compare average spend and total revenue across subscription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057400"/>
            <a:ext cx="32461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2203704"/>
            <a:ext cx="54864" cy="1947672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221992"/>
            <a:ext cx="28986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C32"/>
                </a:solidFill>
                <a:latin typeface="Aptos"/>
              </a:rPr>
              <a:t>06  DISCOUNT-DEPENDENT 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615184"/>
            <a:ext cx="2880360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58B"/>
                </a:solidFill>
                <a:latin typeface="Aptos"/>
              </a:rPr>
              <a:t>Identify five products with the highest percentage of discounted purchases.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2057400"/>
            <a:ext cx="32461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2203704"/>
            <a:ext cx="54864" cy="1947672"/>
          </a:xfrm>
          <a:prstGeom prst="rect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2221992"/>
            <a:ext cx="28986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C32"/>
                </a:solidFill>
                <a:latin typeface="Aptos"/>
              </a:rPr>
              <a:t>07  CUSTOMER SEGMENTATION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615184"/>
            <a:ext cx="2880360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58B"/>
                </a:solidFill>
                <a:latin typeface="Aptos"/>
              </a:rPr>
              <a:t>Classify customers as New, Returning, or Loyal based on purchase history.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09160"/>
            <a:ext cx="3657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6C9B2"/>
                </a:solidFill>
                <a:latin typeface="Aptos"/>
              </a:rPr>
              <a:t>SEGMENTATION FRAMEWORK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102352"/>
            <a:ext cx="3200400" cy="658368"/>
          </a:xfrm>
          <a:prstGeom prst="roundRect">
            <a:avLst/>
          </a:prstGeom>
          <a:solidFill>
            <a:srgbClr val="E2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257800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11C32"/>
                </a:solidFill>
                <a:latin typeface="Aptos"/>
              </a:rPr>
              <a:t>NEW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276088"/>
            <a:ext cx="157276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8758B"/>
                </a:solidFill>
                <a:latin typeface="Aptos"/>
              </a:rPr>
              <a:t>New customer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5102352"/>
            <a:ext cx="3200400" cy="658368"/>
          </a:xfrm>
          <a:prstGeom prst="roundRect">
            <a:avLst/>
          </a:prstGeom>
          <a:solidFill>
            <a:srgbClr val="FFF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5257800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11C32"/>
                </a:solidFill>
                <a:latin typeface="Aptos"/>
              </a:rPr>
              <a:t>RETURNING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276088"/>
            <a:ext cx="157276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8758B"/>
                </a:solidFill>
                <a:latin typeface="Aptos"/>
              </a:rPr>
              <a:t>Repeat activity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5102352"/>
            <a:ext cx="3200400" cy="658368"/>
          </a:xfrm>
          <a:prstGeom prst="round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5257800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11C32"/>
                </a:solidFill>
                <a:latin typeface="Aptos"/>
              </a:rPr>
              <a:t>LOYAL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5276088"/>
            <a:ext cx="157276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8758B"/>
                </a:solidFill>
                <a:latin typeface="Aptos"/>
              </a:rPr>
              <a:t>Established repeat buyer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56248"/>
            <a:ext cx="54864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8E99AA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519672"/>
            <a:ext cx="3200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8E99A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6C9B2"/>
                </a:solidFill>
                <a:latin typeface="Aptos"/>
              </a:rPr>
              <a:t>04 / POSTGRESQL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11C32"/>
                </a:solidFill>
                <a:latin typeface="Aptos"/>
              </a:rPr>
              <a:t>Category best-sellers, repeat buyers &amp; age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58B"/>
                </a:solidFill>
                <a:latin typeface="Aptos"/>
              </a:rPr>
              <a:t>The remaining queries connect purchasing frequency and demographic groups to commercial outcomes.</a:t>
            </a:r>
          </a:p>
        </p:txBody>
      </p:sp>
      <p:sp>
        <p:nvSpPr>
          <p:cNvPr id="5" name="Oval 4"/>
          <p:cNvSpPr/>
          <p:nvPr/>
        </p:nvSpPr>
        <p:spPr>
          <a:xfrm>
            <a:off x="11018520" y="347472"/>
            <a:ext cx="164592" cy="164592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4552" y="347472"/>
            <a:ext cx="164592" cy="164592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30584" y="347472"/>
            <a:ext cx="164592" cy="164592"/>
          </a:xfrm>
          <a:prstGeom prst="ellipse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2011680"/>
            <a:ext cx="324612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157984"/>
            <a:ext cx="54864" cy="1764792"/>
          </a:xfrm>
          <a:prstGeom prst="rect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76272"/>
            <a:ext cx="28986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C32"/>
                </a:solidFill>
                <a:latin typeface="Aptos"/>
              </a:rPr>
              <a:t>08  TOP 3 PRODUCTS PER 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69464"/>
            <a:ext cx="2880360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58B"/>
                </a:solidFill>
                <a:latin typeface="Aptos"/>
              </a:rPr>
              <a:t>List the three most-purchased products within each product category.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011680"/>
            <a:ext cx="324612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2157984"/>
            <a:ext cx="54864" cy="1764792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176272"/>
            <a:ext cx="28986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C32"/>
                </a:solidFill>
                <a:latin typeface="Aptos"/>
              </a:rPr>
              <a:t>09  REPEAT BUYERS &amp; SUBSCRIPTIONS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569464"/>
            <a:ext cx="2880360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58B"/>
                </a:solidFill>
                <a:latin typeface="Aptos"/>
              </a:rPr>
              <a:t>Check whether customers with more than five purchases are more likely to subscribe.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2011680"/>
            <a:ext cx="324612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2157984"/>
            <a:ext cx="54864" cy="1764792"/>
          </a:xfrm>
          <a:prstGeom prst="rect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2176272"/>
            <a:ext cx="28986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C32"/>
                </a:solidFill>
                <a:latin typeface="Aptos"/>
              </a:rPr>
              <a:t>10  REVENUE BY AGE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569464"/>
            <a:ext cx="2880360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58B"/>
                </a:solidFill>
                <a:latin typeface="Aptos"/>
              </a:rPr>
              <a:t>Calculate each age group's contribution to total revenue.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09160"/>
            <a:ext cx="10515600" cy="868680"/>
          </a:xfrm>
          <a:prstGeom prst="roundRect">
            <a:avLst/>
          </a:prstGeom>
          <a:solidFill>
            <a:srgbClr val="11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882896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6C9B2"/>
                </a:solidFill>
                <a:latin typeface="Aptos"/>
              </a:rPr>
              <a:t>Interpretation guardrail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864608"/>
            <a:ext cx="79552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A relationship in the data does not automatically prove causation. Validate the SQL outputs before turning them into claims.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56248"/>
            <a:ext cx="54864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8E99AA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519672"/>
            <a:ext cx="3200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8E99A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6C9B2"/>
                </a:solidFill>
                <a:latin typeface="Aptos"/>
              </a:rPr>
              <a:t>05 / POWER 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FFFFFF"/>
                </a:solidFill>
                <a:latin typeface="Aptos"/>
              </a:rPr>
              <a:t>Visual reporting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The source report confirms an interactive Power BI dashboard was built.</a:t>
            </a:r>
          </a:p>
        </p:txBody>
      </p:sp>
      <p:sp>
        <p:nvSpPr>
          <p:cNvPr id="5" name="Oval 4"/>
          <p:cNvSpPr/>
          <p:nvPr/>
        </p:nvSpPr>
        <p:spPr>
          <a:xfrm>
            <a:off x="11018520" y="347472"/>
            <a:ext cx="164592" cy="164592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4552" y="347472"/>
            <a:ext cx="164592" cy="164592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30584" y="347472"/>
            <a:ext cx="164592" cy="164592"/>
          </a:xfrm>
          <a:prstGeom prst="ellipse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10698480" cy="3931920"/>
          </a:xfrm>
          <a:prstGeom prst="roundRect">
            <a:avLst/>
          </a:prstGeom>
          <a:solidFill>
            <a:srgbClr val="1F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57400"/>
            <a:ext cx="6766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D2DFF0"/>
                </a:solidFill>
                <a:latin typeface="Aptos"/>
              </a:rPr>
              <a:t>CUSTOMER SHOPPING BEHAVIOR  /  DASHBOARD CONCEPT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606040"/>
            <a:ext cx="2926080" cy="822960"/>
          </a:xfrm>
          <a:prstGeom prst="roundRect">
            <a:avLst/>
          </a:prstGeom>
          <a:solidFill>
            <a:srgbClr val="2B3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2606040"/>
            <a:ext cx="64008" cy="822960"/>
          </a:xfrm>
          <a:prstGeom prst="rect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90672"/>
            <a:ext cx="23774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BECDE1"/>
                </a:solidFill>
                <a:latin typeface="Aptos"/>
              </a:rPr>
              <a:t>By customer group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606040"/>
            <a:ext cx="2926080" cy="822960"/>
          </a:xfrm>
          <a:prstGeom prst="roundRect">
            <a:avLst/>
          </a:prstGeom>
          <a:solidFill>
            <a:srgbClr val="2B3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606040"/>
            <a:ext cx="64008" cy="8229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76148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090672"/>
            <a:ext cx="23774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BECDE1"/>
                </a:solidFill>
                <a:latin typeface="Aptos"/>
              </a:rPr>
              <a:t>Ratings &amp; popularity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2606040"/>
            <a:ext cx="2926080" cy="822960"/>
          </a:xfrm>
          <a:prstGeom prst="roundRect">
            <a:avLst/>
          </a:prstGeom>
          <a:solidFill>
            <a:srgbClr val="2B3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2606040"/>
            <a:ext cx="64008" cy="822960"/>
          </a:xfrm>
          <a:prstGeom prst="rect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76148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Subscriptions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090672"/>
            <a:ext cx="23774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BECDE1"/>
                </a:solidFill>
                <a:latin typeface="Aptos"/>
              </a:rPr>
              <a:t>Customer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4389120"/>
            <a:ext cx="384048" cy="731520"/>
          </a:xfrm>
          <a:prstGeom prst="roundRect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801368" y="4023359"/>
            <a:ext cx="384048" cy="1097280"/>
          </a:xfrm>
          <a:prstGeom prst="round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459736" y="4251959"/>
            <a:ext cx="384048" cy="868680"/>
          </a:xfrm>
          <a:prstGeom prst="roundRect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118104" y="3749039"/>
            <a:ext cx="384048" cy="1371600"/>
          </a:xfrm>
          <a:prstGeom prst="roundRect">
            <a:avLst/>
          </a:prstGeom>
          <a:solidFill>
            <a:srgbClr val="7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776472" y="4069079"/>
            <a:ext cx="384048" cy="1051560"/>
          </a:xfrm>
          <a:prstGeom prst="roundRect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321808"/>
            <a:ext cx="3840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B4C4DA"/>
                </a:solidFill>
                <a:latin typeface="Aptos"/>
              </a:rPr>
              <a:t>PURCHASE PATTERN VISUAL (ILLUSTRATIVE)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983480"/>
            <a:ext cx="47548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1">
                <a:solidFill>
                  <a:srgbClr val="BECDE1"/>
                </a:solidFill>
                <a:latin typeface="Aptos"/>
              </a:rPr>
              <a:t>Illustration only: the report does not include a screenshot or the dashboard's numerical outputs.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56248"/>
            <a:ext cx="54864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B0BDCF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19672"/>
            <a:ext cx="3200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B0BDC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6C9B2"/>
                </a:solidFill>
                <a:latin typeface="Aptos"/>
              </a:rPr>
              <a:t>06 /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11C32"/>
                </a:solidFill>
                <a:latin typeface="Aptos"/>
              </a:rPr>
              <a:t>Five recommendations from the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58B"/>
                </a:solidFill>
                <a:latin typeface="Aptos"/>
              </a:rPr>
              <a:t>Use the analysis to guide experiments and decisions; measure outcomes after implementation.</a:t>
            </a:r>
          </a:p>
        </p:txBody>
      </p:sp>
      <p:sp>
        <p:nvSpPr>
          <p:cNvPr id="5" name="Oval 4"/>
          <p:cNvSpPr/>
          <p:nvPr/>
        </p:nvSpPr>
        <p:spPr>
          <a:xfrm>
            <a:off x="11018520" y="347472"/>
            <a:ext cx="164592" cy="164592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4552" y="347472"/>
            <a:ext cx="164592" cy="164592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30584" y="347472"/>
            <a:ext cx="164592" cy="164592"/>
          </a:xfrm>
          <a:prstGeom prst="ellipse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783080"/>
            <a:ext cx="50749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4767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6C9B2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4023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11C32"/>
                </a:solidFill>
                <a:latin typeface="Aptos"/>
              </a:rPr>
              <a:t>BOOST SUBSCRIPTIONS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249424"/>
            <a:ext cx="4023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Promote exclusive benefits for subscribers.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044952"/>
            <a:ext cx="50749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F7E67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172968"/>
            <a:ext cx="4023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11C32"/>
                </a:solidFill>
                <a:latin typeface="Aptos"/>
              </a:rPr>
              <a:t>BUILD CUSTOMER LOYALTY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511296"/>
            <a:ext cx="4023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Reward repeat buyers to help move them into the Loyal segment.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306824"/>
            <a:ext cx="50749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471416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FC35B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434840"/>
            <a:ext cx="4023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11C32"/>
                </a:solidFill>
                <a:latin typeface="Aptos"/>
              </a:rPr>
              <a:t>REVIEW DISCOUNT 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773168"/>
            <a:ext cx="4023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Balance sales stimulation with margin control.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1783080"/>
            <a:ext cx="50749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194767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7089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1911095"/>
            <a:ext cx="4023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11C32"/>
                </a:solidFill>
                <a:latin typeface="Aptos"/>
              </a:rPr>
              <a:t>POSITION STRONG PRODUCTS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2249424"/>
            <a:ext cx="4023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Highlight top-rated and best-selling products in campaigns.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3044952"/>
            <a:ext cx="50749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3209544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6C9B2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3172968"/>
            <a:ext cx="4023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11C32"/>
                </a:solidFill>
                <a:latin typeface="Aptos"/>
              </a:rPr>
              <a:t>TARGET MARKETING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511296"/>
            <a:ext cx="4023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58B"/>
                </a:solidFill>
                <a:latin typeface="Aptos"/>
              </a:rPr>
              <a:t>Focus on high-revenue age groups and Express-shipping users.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56248"/>
            <a:ext cx="54864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8E99AA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519672"/>
            <a:ext cx="3200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8E99A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6C9B2"/>
                </a:solidFill>
                <a:latin typeface="Aptos"/>
              </a:rPr>
              <a:t>07 /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11C32"/>
                </a:solidFill>
                <a:latin typeface="Aptos"/>
              </a:rPr>
              <a:t>What this project establishes—and 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58B"/>
                </a:solidFill>
                <a:latin typeface="Aptos"/>
              </a:rPr>
              <a:t>Keep the presentation transparent about what is documented in the report.</a:t>
            </a:r>
          </a:p>
        </p:txBody>
      </p:sp>
      <p:sp>
        <p:nvSpPr>
          <p:cNvPr id="5" name="Oval 4"/>
          <p:cNvSpPr/>
          <p:nvPr/>
        </p:nvSpPr>
        <p:spPr>
          <a:xfrm>
            <a:off x="11018520" y="347472"/>
            <a:ext cx="164592" cy="164592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4552" y="347472"/>
            <a:ext cx="164592" cy="164592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30584" y="347472"/>
            <a:ext cx="164592" cy="164592"/>
          </a:xfrm>
          <a:prstGeom prst="ellipse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507492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975104"/>
            <a:ext cx="54864" cy="1261872"/>
          </a:xfrm>
          <a:prstGeom prst="rect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993392"/>
            <a:ext cx="47274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11C32"/>
                </a:solidFill>
                <a:latin typeface="Aptos"/>
              </a:rPr>
              <a:t>WHAT IS DOCUMENTED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86584"/>
            <a:ext cx="4709159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58B"/>
                </a:solidFill>
                <a:latin typeface="Aptos"/>
              </a:rPr>
              <a:t>3,900 rows, 18 columns, data cleaning, engineered features, PostgreSQL analysis questions, Power BI dashboard, and recommendations.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507492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75104"/>
            <a:ext cx="54864" cy="1261872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93392"/>
            <a:ext cx="47274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11C32"/>
                </a:solidFill>
                <a:latin typeface="Aptos"/>
              </a:rPr>
              <a:t>WHAT IS NOT INCLUDED IN THE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86584"/>
            <a:ext cx="4709159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58B"/>
                </a:solidFill>
                <a:latin typeface="Aptos"/>
              </a:rPr>
              <a:t>Numerical SQL result tables, measured business lift, detailed dashboard screenshot, and validation of recommendation impact.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77639"/>
            <a:ext cx="3657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6C9B2"/>
                </a:solidFill>
                <a:latin typeface="Aptos"/>
              </a:rPr>
              <a:t>SUGGESTED NEXT STEPS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443984"/>
            <a:ext cx="100584" cy="100584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70832"/>
            <a:ext cx="1022299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43044"/>
                </a:solidFill>
                <a:latin typeface="Aptos"/>
              </a:rPr>
              <a:t>Add query outputs and verified charts to make the findings concrete.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" y="4901184"/>
            <a:ext cx="100584" cy="100584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28032"/>
            <a:ext cx="1022299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43044"/>
                </a:solidFill>
                <a:latin typeface="Aptos"/>
              </a:rPr>
              <a:t>Include a Power BI dashboard screenshot or exported visuals.</a:t>
            </a:r>
          </a:p>
        </p:txBody>
      </p:sp>
      <p:sp>
        <p:nvSpPr>
          <p:cNvPr id="21" name="Oval 20"/>
          <p:cNvSpPr/>
          <p:nvPr/>
        </p:nvSpPr>
        <p:spPr>
          <a:xfrm>
            <a:off x="804672" y="5358384"/>
            <a:ext cx="100584" cy="100584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285232"/>
            <a:ext cx="1022299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43044"/>
                </a:solidFill>
                <a:latin typeface="Aptos"/>
              </a:rPr>
              <a:t>Track KPIs after changes: subscription conversion, repeat purchase rate, discount margin, and category revenue.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56248"/>
            <a:ext cx="54864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8E99AA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519672"/>
            <a:ext cx="3200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8E99AA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777240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6C9B2"/>
                </a:solidFill>
                <a:latin typeface="Aptos"/>
              </a:rP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676656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Clean the data.</a:t>
            </a:r>
          </a:p>
          <a:p>
            <a:pPr algn="l">
              <a:spcAft>
                <a:spcPts val="50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Ask better questions.</a:t>
            </a:r>
          </a:p>
          <a:p>
            <a:pPr algn="l">
              <a:spcAft>
                <a:spcPts val="50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Act on verified insight.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03320"/>
            <a:ext cx="68580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CCD8E9"/>
                </a:solidFill>
                <a:latin typeface="Aptos"/>
              </a:rPr>
              <a:t>The project connects Python preparation, PostgreSQL analysis, and Power BI reporting into a practical workflow for customer-focused business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074920"/>
            <a:ext cx="1965960" cy="777240"/>
          </a:xfrm>
          <a:prstGeom prst="roundRect">
            <a:avLst/>
          </a:prstGeom>
          <a:solidFill>
            <a:srgbClr val="1B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5074920"/>
            <a:ext cx="1965960" cy="64008"/>
          </a:xfrm>
          <a:prstGeom prst="rect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17830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41264"/>
            <a:ext cx="17830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0" i="0">
                <a:solidFill>
                  <a:srgbClr val="B9C8DC"/>
                </a:solidFill>
                <a:latin typeface="Aptos"/>
              </a:rPr>
              <a:t>Trust the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5074920"/>
            <a:ext cx="1965960" cy="777240"/>
          </a:xfrm>
          <a:prstGeom prst="roundRect">
            <a:avLst/>
          </a:prstGeom>
          <a:solidFill>
            <a:srgbClr val="1B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63240" y="5074920"/>
            <a:ext cx="1965960" cy="6400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5257800"/>
            <a:ext cx="17830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5541264"/>
            <a:ext cx="17830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0" i="0">
                <a:solidFill>
                  <a:srgbClr val="B9C8DC"/>
                </a:solidFill>
                <a:latin typeface="Aptos"/>
              </a:rPr>
              <a:t>Measure the pattern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5074920"/>
            <a:ext cx="1965960" cy="777240"/>
          </a:xfrm>
          <a:prstGeom prst="roundRect">
            <a:avLst/>
          </a:prstGeom>
          <a:solidFill>
            <a:srgbClr val="1B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0" y="5074920"/>
            <a:ext cx="1965960" cy="64008"/>
          </a:xfrm>
          <a:prstGeom prst="rect">
            <a:avLst/>
          </a:prstGeom>
          <a:solidFill>
            <a:srgbClr val="FF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5257800"/>
            <a:ext cx="17830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5541264"/>
            <a:ext cx="17830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0" i="0">
                <a:solidFill>
                  <a:srgbClr val="B9C8DC"/>
                </a:solidFill>
                <a:latin typeface="Aptos"/>
              </a:rPr>
              <a:t>Test the decision</a:t>
            </a:r>
          </a:p>
        </p:txBody>
      </p:sp>
      <p:sp>
        <p:nvSpPr>
          <p:cNvPr id="17" name="Oval 16"/>
          <p:cNvSpPr/>
          <p:nvPr/>
        </p:nvSpPr>
        <p:spPr>
          <a:xfrm>
            <a:off x="8595360" y="1645920"/>
            <a:ext cx="2011680" cy="2011680"/>
          </a:xfrm>
          <a:prstGeom prst="ellipse">
            <a:avLst/>
          </a:prstGeom>
          <a:solidFill>
            <a:srgbClr val="26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98280" y="2148840"/>
            <a:ext cx="1005840" cy="1005840"/>
          </a:xfrm>
          <a:prstGeom prst="ellipse">
            <a:avLst/>
          </a:prstGeom>
          <a:solidFill>
            <a:srgbClr val="11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11480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56248"/>
            <a:ext cx="54864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B0BDCF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9672"/>
            <a:ext cx="3200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B0BDCF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 — Detailed Presentation</dc:title>
  <dc:subject>Expanded business presentation based on the supplied project report</dc:subject>
  <dc:creator>OpenAI</dc:creator>
  <cp:keywords>Customer Analytics, Python, PostgreSQL, Power BI, Business Insights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